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842AB-43C2-43C9-B3B3-C6971E8C92B1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230F75-5EAC-42BA-8C17-69AADA70A1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029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0D2D26-47CE-E3E9-C8C4-CB0AFB006D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672B55-0C1A-AAD9-9BE7-1C0E502A47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062E9C-DF99-297B-DE4C-BEFD23D41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1C7182-2C7A-39BC-E9AC-E4AC931A03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B3CC10-39EB-7CA1-12C3-DC9022314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600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5DA1-9695-2731-57CC-8FF4E55FC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F91C-9365-CFC6-2DBF-3163B85B21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875BE-D645-7B33-2AB5-6DF1335AD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94C11-4C63-9B4C-50F0-74E3DDCB6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EEB48-E1CC-5039-A98E-C16EFB01E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0912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8F007-9545-9D3A-0634-E79885DC3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169A29-70C3-A428-ADB1-DE9A35D0F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B8A6A8-05CB-C9B5-5520-58A18758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F5CDC-6B6D-A218-E51E-644F95F75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9D8521-6146-2E70-66E6-B01B4A2A39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151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59D81-2B67-F4DF-0F3D-FDA69F6C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0471EC-CEF1-9C12-992A-48850BF72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0DE6BD-BC77-8BB1-6402-D13DB101B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5EBA3-4A4C-0F05-43E6-A851E493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C7F156-2D0B-2A73-B33C-579E15C5E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AC6C5E-CEE9-1583-6148-909DE2AFF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244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A798A-8297-D74F-A383-76D419A95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2652B2-978E-98A4-E12F-521F96ADF4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E0055-76F5-9B4C-9C6D-EAD143A302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2ED252-2822-9C32-2CC9-68B7AD7FBE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E822CC-D367-0740-3C42-CA33B63894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E8979E1-07E7-4980-C3EB-94397140F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F4C3F1-4DCC-616B-F99E-25E3322F8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3364CD-12DA-EA17-A1F4-3313EFF75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459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78E3-0E8C-59FB-07D0-EAE2436EB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70B935F-6185-5885-A72B-C28F615FF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09CF9-C420-D584-3737-7AAF29516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9BEEA6-F3D4-E937-ABE1-CFFCBD6172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433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F2A5CB-CD69-E995-9D4C-F8CF34DA99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BC13E6-F517-AEFB-CB2B-C5F158478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1E2B7-7534-E52C-294B-01CA8EF4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945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CFEE1-DBE0-014C-92A5-069FEF337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5927AE-A20B-C932-4546-D69A0342BD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8FF238-E4A8-3A22-B215-B1AB94461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98A4BA-2101-FD3F-F2DC-53A62664D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03929E-3FC1-755B-0E6C-D510B4827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6501C6-46B2-BE5D-A684-87A5872F36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698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91C283-D469-18FF-CEB7-EEBC06669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129108-A4A4-E949-FAC4-856986A7C20F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8F236E-C911-09B9-350D-27E6988CF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37AD69-E75F-9324-FD0D-7CB9B9AC69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107A0A-8075-0E6C-DBB4-AE48DE72EF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BDB9C-02DC-936E-FB1C-CA3F9732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48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CB925-134E-350D-2046-292A46E12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2F3E07-3658-82DA-3F02-E90B8D424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F2720D-D45E-5050-B798-374F3E51E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13703-D48D-3684-08F8-21E981C5C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9570E-C7D6-2303-2CED-D004D78E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2592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05264D-1735-E7C8-5D19-92BD10FC17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0C6E56-443B-7EB1-CE66-584415AD62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BF487-F7DB-34EE-8DB3-9368F1BC0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E7DD4-DE54-9534-56B5-C33CBD6E5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92A1D-4218-261A-9FD9-187CAA47C9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0286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795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C42D54-AD8C-BEC3-C7F9-3D309F77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791F09-766B-5F7B-B9E4-E47E48B35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2B14-58FB-4767-8F5E-C9C091CE1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0B991-CAD3-42B4-A7F1-B6DE89AB3349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148B84-88BC-D158-C1B2-AE799A9A91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DFF8A-0888-1824-D987-938B411EAC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7F3498-3CA4-4E02-9540-B7818BF55F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1771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1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42950" y="250807"/>
            <a:ext cx="1676400" cy="384211"/>
          </a:xfrm>
          <a:prstGeom prst="rect">
            <a:avLst/>
          </a:prstGeom>
        </p:spPr>
      </p:pic>
      <p:sp>
        <p:nvSpPr>
          <p:cNvPr id="2" name="affiliation">
            <a:extLst>
              <a:ext uri="{FF2B5EF4-FFF2-40B4-BE49-F238E27FC236}">
                <a16:creationId xmlns:a16="http://schemas.microsoft.com/office/drawing/2014/main" id="{A80DBB96-21AB-4B7D-984E-8F7D19FDB3F2}"/>
              </a:ext>
            </a:extLst>
          </p:cNvPr>
          <p:cNvSpPr>
            <a:spLocks noGrp="1"/>
          </p:cNvSpPr>
          <p:nvPr/>
        </p:nvSpPr>
        <p:spPr>
          <a:xfrm>
            <a:off x="6667500" y="2571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/>
          <a:lstStyle/>
          <a:p>
            <a:pPr algn="r">
              <a:buNone/>
              <a:defRPr sz="825" b="1">
                <a:solidFill>
                  <a:srgbClr val="012169"/>
                </a:solidFill>
              </a:defRPr>
            </a:pPr>
            <a:r>
              <a:rPr sz="825" b="1">
                <a:solidFill>
                  <a:srgbClr val="012169"/>
                </a:solidFill>
              </a:rPr>
              <a:t>COMPUTER SCIENCE &amp; INFORMATICS  ×  NELL HODGSON WOODRUFF SCHOOL OF NURSING</a:t>
            </a:r>
          </a:p>
        </p:txBody>
      </p:sp>
      <p:sp>
        <p:nvSpPr>
          <p:cNvPr id="4" name="slide-title">
            <a:extLst>
              <a:ext uri="{FF2B5EF4-FFF2-40B4-BE49-F238E27FC236}">
                <a16:creationId xmlns:a16="http://schemas.microsoft.com/office/drawing/2014/main" id="{9F73D386-3EEB-43EB-8AE9-21DE7E389085}"/>
              </a:ext>
            </a:extLst>
          </p:cNvPr>
          <p:cNvSpPr>
            <a:spLocks noGrp="1"/>
          </p:cNvSpPr>
          <p:nvPr/>
        </p:nvSpPr>
        <p:spPr>
          <a:xfrm>
            <a:off x="723900" y="714375"/>
            <a:ext cx="107442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anchor="ctr">
            <a:noAutofit/>
          </a:bodyPr>
          <a:lstStyle/>
          <a:p>
            <a:pPr algn="l">
              <a:buNone/>
              <a:defRPr sz="2850" b="1">
                <a:solidFill>
                  <a:srgbClr val="18243B"/>
                </a:solidFill>
                <a:latin typeface="Calibri"/>
                <a:ea typeface="Calibri"/>
                <a:cs typeface="Calibri"/>
              </a:defRPr>
            </a:pPr>
            <a:r>
              <a:rPr lang="en-US" altLang="zh-CN" sz="2850" b="1" dirty="0">
                <a:solidFill>
                  <a:srgbClr val="18243B"/>
                </a:solidFill>
                <a:latin typeface="Calibri"/>
                <a:ea typeface="Calibri"/>
                <a:cs typeface="Calibri"/>
              </a:rPr>
              <a:t>SIR &amp; SEIR models of pandemic spread</a:t>
            </a:r>
            <a:endParaRPr sz="2850" b="1" dirty="0">
              <a:solidFill>
                <a:srgbClr val="18243B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title-rule">
            <a:extLst>
              <a:ext uri="{FF2B5EF4-FFF2-40B4-BE49-F238E27FC236}">
                <a16:creationId xmlns:a16="http://schemas.microsoft.com/office/drawing/2014/main" id="{FF959BF2-EF76-4B27-9690-FC49919DF3DE}"/>
              </a:ext>
            </a:extLst>
          </p:cNvPr>
          <p:cNvSpPr>
            <a:spLocks noGrp="1"/>
          </p:cNvSpPr>
          <p:nvPr/>
        </p:nvSpPr>
        <p:spPr>
          <a:xfrm>
            <a:off x="723900" y="1390650"/>
            <a:ext cx="10744200" cy="47625"/>
          </a:xfrm>
          <a:prstGeom prst="rect">
            <a:avLst/>
          </a:prstGeom>
          <a:solidFill>
            <a:srgbClr val="F2A900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akeaway">
            <a:extLst>
              <a:ext uri="{FF2B5EF4-FFF2-40B4-BE49-F238E27FC236}">
                <a16:creationId xmlns:a16="http://schemas.microsoft.com/office/drawing/2014/main" id="{F073C290-5404-D74E-DFF6-EBE08C54133E}"/>
              </a:ext>
            </a:extLst>
          </p:cNvPr>
          <p:cNvSpPr>
            <a:spLocks noGrp="1"/>
          </p:cNvSpPr>
          <p:nvPr/>
        </p:nvSpPr>
        <p:spPr>
          <a:xfrm>
            <a:off x="679450" y="1504950"/>
            <a:ext cx="10572750" cy="14033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buNone/>
              <a:defRPr sz="2100" b="1">
                <a:solidFill>
                  <a:srgbClr val="002878"/>
                </a:solidFill>
                <a:latin typeface="Calibri"/>
                <a:ea typeface="Calibri"/>
                <a:cs typeface="Calibri"/>
              </a:defRPr>
            </a:pP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Hypothesis: </a:t>
            </a:r>
          </a:p>
          <a:p>
            <a:pPr marL="457200" indent="-457200">
              <a:buAutoNum type="arabicPeriod"/>
              <a:defRPr sz="2100" b="1">
                <a:solidFill>
                  <a:srgbClr val="002878"/>
                </a:solidFill>
                <a:latin typeface="Calibri"/>
                <a:ea typeface="Calibri"/>
                <a:cs typeface="Calibri"/>
              </a:defRPr>
            </a:pP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The SIR will peak near day 40-50 at 400-500 infected population. (</a:t>
            </a:r>
            <a:r>
              <a:rPr lang="en-US" sz="2100" b="1" dirty="0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Supported</a:t>
            </a: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457200" indent="-457200">
              <a:buAutoNum type="arabicPeriod"/>
              <a:defRPr sz="2100" b="1">
                <a:solidFill>
                  <a:srgbClr val="002878"/>
                </a:solidFill>
                <a:latin typeface="Calibri"/>
                <a:ea typeface="Calibri"/>
                <a:cs typeface="Calibri"/>
              </a:defRPr>
            </a:pP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Births in the SEIR will produce more than 1 waves of pandemic. (</a:t>
            </a:r>
            <a:r>
              <a:rPr lang="en-US" sz="2100" b="1" dirty="0">
                <a:solidFill>
                  <a:schemeClr val="accent3"/>
                </a:solidFill>
                <a:latin typeface="Calibri"/>
                <a:ea typeface="Calibri"/>
                <a:cs typeface="Calibri"/>
              </a:rPr>
              <a:t>Supported</a:t>
            </a: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)</a:t>
            </a:r>
          </a:p>
          <a:p>
            <a:pPr marL="457200" indent="-457200">
              <a:buFontTx/>
              <a:buAutoNum type="arabicPeriod"/>
              <a:defRPr sz="2100" b="1">
                <a:solidFill>
                  <a:srgbClr val="002878"/>
                </a:solidFill>
                <a:latin typeface="Calibri"/>
                <a:ea typeface="Calibri"/>
                <a:cs typeface="Calibri"/>
              </a:defRPr>
            </a:pP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β will affect the peak more than γ. (</a:t>
            </a:r>
            <a:r>
              <a:rPr lang="en-US" sz="21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Rejected</a:t>
            </a: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: γ -1.84 VS β +1.58)</a:t>
            </a:r>
          </a:p>
          <a:p>
            <a:pPr marL="457200" indent="-457200">
              <a:buAutoNum type="arabicPeriod"/>
              <a:defRPr sz="2100" b="1">
                <a:solidFill>
                  <a:srgbClr val="002878"/>
                </a:solidFill>
                <a:latin typeface="Calibri"/>
                <a:ea typeface="Calibri"/>
                <a:cs typeface="Calibri"/>
              </a:defRPr>
            </a:pPr>
            <a:endParaRPr sz="2100" b="1" dirty="0">
              <a:solidFill>
                <a:srgbClr val="002878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04E776F-C830-AFBF-E215-2D02D817D4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7350" y="2835275"/>
            <a:ext cx="4983510" cy="289877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ECB1040E-42A2-EBAE-FD06-00813B9A7D9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459" y="2908300"/>
            <a:ext cx="6288071" cy="2825750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96355DA3-5FF1-5AB3-9BF4-3CC6BE2D953F}"/>
              </a:ext>
            </a:extLst>
          </p:cNvPr>
          <p:cNvSpPr txBox="1"/>
          <p:nvPr/>
        </p:nvSpPr>
        <p:spPr>
          <a:xfrm>
            <a:off x="304470" y="5728127"/>
            <a:ext cx="349606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469</a:t>
            </a:r>
            <a:r>
              <a:rPr lang="en-US" sz="2100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 infected at day 42.5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D1C8494-A8D5-8472-E3D0-5B5E375F5EBD}"/>
              </a:ext>
            </a:extLst>
          </p:cNvPr>
          <p:cNvSpPr txBox="1"/>
          <p:nvPr/>
        </p:nvSpPr>
        <p:spPr>
          <a:xfrm>
            <a:off x="4387850" y="5728127"/>
            <a:ext cx="76297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A parameter can matter more than </a:t>
            </a:r>
            <a:r>
              <a:rPr lang="en-US" altLang="zh-CN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what</a:t>
            </a:r>
            <a:r>
              <a:rPr lang="en-US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 the formula shows.</a:t>
            </a:r>
          </a:p>
          <a:p>
            <a:r>
              <a:rPr lang="en-US" b="1" dirty="0">
                <a:solidFill>
                  <a:srgbClr val="002878"/>
                </a:solidFill>
                <a:latin typeface="Calibri"/>
                <a:ea typeface="Calibri"/>
                <a:cs typeface="Calibri"/>
              </a:rPr>
              <a:t>Although both β and γ affect R₀, γ also controls how quickly people recover, so the epidemic peak was more sensitive to γ than to β.</a:t>
            </a:r>
          </a:p>
        </p:txBody>
      </p:sp>
    </p:spTree>
    <p:extLst>
      <p:ext uri="{BB962C8B-B14F-4D97-AF65-F5344CB8AC3E}">
        <p14:creationId xmlns:p14="http://schemas.microsoft.com/office/powerpoint/2010/main" val="1375898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117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Sun, Heng</dc:creator>
  <cp:lastModifiedBy>Sun, Heng</cp:lastModifiedBy>
  <cp:revision>2</cp:revision>
  <dcterms:created xsi:type="dcterms:W3CDTF">2026-10-13T03:48:09Z</dcterms:created>
  <dcterms:modified xsi:type="dcterms:W3CDTF">2026-10-13T04:05:51Z</dcterms:modified>
</cp:coreProperties>
</file>